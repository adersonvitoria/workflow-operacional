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7" r:id="rId28"/>
    <p:sldId id="273" r:id="rId19"/>
    <p:sldId id="275" r:id="rId26"/>
    <p:sldId id="276" r:id="rId27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relationships/slide" Target="slides/slide20.xml"/><Relationship Id="rId27" Type="http://schemas.openxmlformats.org/officeDocument/relationships/slide" Target="slides/slide21.xml"/><Relationship Id="rId28" Type="http://schemas.openxmlformats.org/officeDocument/relationships/slide" Target="slides/slide22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Proposta comercial da plataforma Operação GpsTecRS, enviada pela ARV LABS à GPSTec.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Esteira de Manutenção: O coração da operação, da abertura da OS ao encerramento, passando por cheque, orçamento e medição. Cada card mostra turno, criticidade, valor e há quanto tempo está parado.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Esteira de Implantação: Novos projetos do comercial à medição, com aprovação da coordenação, monitoramento, execução técnica e auditoria de qualidade.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Esteira de Compras: Orçamentos aprovados viram compra de material, com separação de estoque, classificação por centro de custo, pedido ao fornecedor e entrega.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Dashboard: Visão executiva do mês, com volume por esteira, valores, cards parados além do prazo e distribuição por etapa.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Relatórios: Fechamento por competência com filtro em cada coluna, totais por centro de resultado e recorte de visitas cobradas e isentas.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Calendário: Agenda de visitas e execuções por técnico, com período de obra e localização do atendimento.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Perfis e permissões: Cada setor enxerga e executa apenas o que lhe cabe. As regras são configuráveis pela coordenação, sem depender de programação.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Assistente GpsTecRS: Consulta em linguagem natural sobre os dados da operação. Módulo opcional, contratado à 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ARV </a:t>
            </a:r>
            <a:pPr indent="0" marL="0">
              <a:buNone/>
            </a:pPr>
            <a:r>
              <a:rPr lang="en-US" sz="20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9875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 e Sistemas Operacionais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286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COMERCIAL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517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Operação </a:t>
            </a:r>
            <a:pPr indent="0" marL="0">
              <a:buNone/>
            </a:pPr>
            <a:r>
              <a:rPr lang="en-US" sz="54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GpsTecRS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03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operacaogpstecrs.com.br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2519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proprietária de gestão operacional para a GPSTec, já em produção, com a operação real da empresa rodando dentro dela.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nº 2026-001   ·   Validade: 30 dias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OBJETIVO DA PLATAFORMA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Colocar toda a operação da GPSTec em um único lugar</a:t>
            </a:r>
            <a:pPr indent="0" marL="0">
              <a:lnSpc>
                <a:spcPct val="135000"/>
              </a:lnSpc>
              <a:buNone/>
            </a:pP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do orçamento à medição faturada, substituindo planilhas paralelas, grupos de mensagens e controles soltos por </a:t>
            </a:r>
            <a:pPr indent="0" marL="0">
              <a:lnSpc>
                <a:spcPct val="13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esteiras visuais onde cada ordem de serviço carrega a própria história</a:t>
            </a:r>
            <a:pPr indent="0" marL="0">
              <a:lnSpc>
                <a:spcPct val="135000"/>
              </a:lnSpc>
              <a:buNone/>
            </a:pP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quem fez, quando, por quanto e o que falta.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397764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41605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Rastreável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455371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movimento fica registrado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434840" y="397764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41605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Previsível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455371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prazos e responsáveis visíveis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46720" y="397764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5320" y="41605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Auditável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455371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completo por card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nada se perde entre setores e todo valor executado chega à medição.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GPSTec ganha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472184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472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esteiras integradas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1764792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Implantação, Manutenção e Compras conversam entre si automaticamente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2432304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2432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37744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Nenhuma OS perdida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724912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card tem responsável, prazo, histórico e alerta de atraso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" y="3392424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3392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333756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orçamento à compra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3685032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redigitação e sem planilha intermediária no caminho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207008" y="429768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Faturamento protegido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207008" y="4645152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medição com rateio por chamado e centro de resultado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5312664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5312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525780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Fechamento pronto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5605272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relatórios por competência e por CR para conferência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operação hoje, dentro da plataforma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 reais do sistema em produção, de 23/06/2026 a 26/08/2026, pouco mais de dois meses de uso.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47472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901952"/>
            <a:ext cx="3072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458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487168"/>
            <a:ext cx="3072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ordens de serviço registradas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97680" y="1737360"/>
            <a:ext cx="347472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98848" y="1901952"/>
            <a:ext cx="3072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329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4498848" y="2487168"/>
            <a:ext cx="3072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já encerradas com rastreio completo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0" y="1737360"/>
            <a:ext cx="347472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47888" y="1901952"/>
            <a:ext cx="3072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8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R$ 285 mil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8247888" y="2487168"/>
            <a:ext cx="3072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movimentados e controlados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347472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3822192"/>
            <a:ext cx="3072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151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4407408"/>
            <a:ext cx="3072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medições registradas para faturamento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97680" y="3657600"/>
            <a:ext cx="347472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98848" y="3822192"/>
            <a:ext cx="3072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114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4498848" y="4407408"/>
            <a:ext cx="3072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orçamentos e anexos em PDF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meses de operação real, sem projeto piloto e sem risco de adoção.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retorno da plataforma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Antes, a operação era controlada em planilhas: sem fluxo visível e sem saber o que foi executado e não cobrado.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747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993392"/>
            <a:ext cx="3072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58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R$ 131.851,95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578608"/>
            <a:ext cx="30723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rastreada por competência em 3 meses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97680" y="1828800"/>
            <a:ext cx="34747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98848" y="1993392"/>
            <a:ext cx="3072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R$ 202.692,41</a:t>
            </a:r>
            <a:endParaRPr lang="en-US" sz="2300" dirty="0"/>
          </a:p>
        </p:txBody>
      </p:sp>
      <p:sp>
        <p:nvSpPr>
          <p:cNvPr id="9" name="Text 7"/>
          <p:cNvSpPr txBox="1"/>
          <p:nvPr/>
        </p:nvSpPr>
        <p:spPr>
          <a:xfrm>
            <a:off x="4498848" y="2578608"/>
            <a:ext cx="30723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orçamentos registrados e acompanhados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0" y="1828800"/>
            <a:ext cx="34747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47888" y="1993392"/>
            <a:ext cx="3072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R$ 14.850,00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8247888" y="2578608"/>
            <a:ext cx="30723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visitas cobradas, com 94 registros formais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97764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ECFDF3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PLATAFORMA REVELOU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4553712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327 visitas do período, </a:t>
            </a:r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171 saíram sem cobrança registrada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apenas 20 foram formalmente isentadas por um orçamento aprovado. Ao ticket médio de </a:t>
            </a:r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R$ 157,98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isso representa </a:t>
            </a:r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R$ 27.014,58 em receita potencial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que a gestão passou a enxergar.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de receita registrada e controlada, não de margem: os custos internos da GPSTec não transitam pela plataforma.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1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Esteira de Manutenção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503920" y="49377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plataforma em produção</a:t>
            </a:r>
            <a:endParaRPr lang="en-US" sz="1100" dirty="0"/>
          </a:p>
        </p:txBody>
      </p:sp>
      <p:pic>
        <p:nvPicPr>
          <p:cNvPr id="4" name="Image 0" descr="docs/telas/manutenco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960120"/>
            <a:ext cx="10058400" cy="4206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5349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coração da operação, da abertura da OS ao encerramento, passando por cheque, orçamento e medição. Cada card mostra turno, criticidade, valor e há quanto tempo está parado.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1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Esteira de Implantação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503920" y="49377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plataforma em produção</a:t>
            </a:r>
            <a:endParaRPr lang="en-US" sz="1100" dirty="0"/>
          </a:p>
        </p:txBody>
      </p:sp>
      <p:pic>
        <p:nvPicPr>
          <p:cNvPr id="4" name="Image 0" descr="docs/telas/implantaco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960120"/>
            <a:ext cx="10058400" cy="4206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5349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Novos projetos do comercial à medição, com aprovação da coordenação, monitoramento, execução técnica e auditoria de qualidade.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1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Esteira de Compras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503920" y="49377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plataforma em produção</a:t>
            </a:r>
            <a:endParaRPr lang="en-US" sz="1100" dirty="0"/>
          </a:p>
        </p:txBody>
      </p:sp>
      <p:pic>
        <p:nvPicPr>
          <p:cNvPr id="4" name="Image 0" descr="docs/telas/compr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960120"/>
            <a:ext cx="10058400" cy="4206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5349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Orçamentos aprovados viram compra de material, com separação de estoque, classificação por centro de custo, pedido ao fornecedor e entrega.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1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503920" y="49377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plataforma em produção</a:t>
            </a:r>
            <a:endParaRPr lang="en-US" sz="1100" dirty="0"/>
          </a:p>
        </p:txBody>
      </p:sp>
      <p:pic>
        <p:nvPicPr>
          <p:cNvPr id="4" name="Image 0" descr="docs/telas/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960120"/>
            <a:ext cx="10058400" cy="4206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5349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do mês, com volume por esteira, valores, cards parados além do prazo e distribuição por etapa.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1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Relatórios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503920" y="49377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plataforma em produção</a:t>
            </a:r>
            <a:endParaRPr lang="en-US" sz="1100" dirty="0"/>
          </a:p>
        </p:txBody>
      </p:sp>
      <p:pic>
        <p:nvPicPr>
          <p:cNvPr id="4" name="Image 0" descr="docs/telas/relatori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960120"/>
            <a:ext cx="10058400" cy="4206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5349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Fechamento por competência com filtro em cada coluna, totais por centro de resultado e recorte de visitas cobradas e isentas.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1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Calendário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503920" y="49377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plataforma em produção</a:t>
            </a:r>
            <a:endParaRPr lang="en-US" sz="1100" dirty="0"/>
          </a:p>
        </p:txBody>
      </p:sp>
      <p:pic>
        <p:nvPicPr>
          <p:cNvPr id="4" name="Image 0" descr="docs/telas/calendar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960120"/>
            <a:ext cx="10058400" cy="4206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5349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visitas e execuções por técnico, com período de obra e localização do atendimento.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1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Perfis e permissões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503920" y="49377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plataforma em produção</a:t>
            </a:r>
            <a:endParaRPr lang="en-US" sz="1100" dirty="0"/>
          </a:p>
        </p:txBody>
      </p:sp>
      <p:pic>
        <p:nvPicPr>
          <p:cNvPr id="4" name="Image 0" descr="docs/telas/perf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960120"/>
            <a:ext cx="10058400" cy="4206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5349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setor enxerga e executa apenas o que lhe cabe. As regras são configuráveis pela coordenação, sem depender de programação.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1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Assistente GpsTecRS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503920" y="49377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plataforma em produção</a:t>
            </a:r>
            <a:endParaRPr lang="en-US" sz="1100" dirty="0"/>
          </a:p>
        </p:txBody>
      </p:sp>
      <p:pic>
        <p:nvPicPr>
          <p:cNvPr id="4" name="Image 0" descr="docs/telas/assisten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960120"/>
            <a:ext cx="10058400" cy="4206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5349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em linguagem natural sobre os dados da operação. Módulo opcional, contratado à parte.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1: Assinatura mensal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ARV LABS mantém a plataforma no ar: hospedagem, backup, suporte, correções de segurança e 20 horas mensais de evolução inclusas.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4663440"/>
                <a:gridCol w="3200400"/>
                <a:gridCol w="32004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670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Usuários com acesso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670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Mensalidade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670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Contrato 24 meses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01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10 usuários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01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R$ 1.980,00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01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R$ 47.520,00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01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a 15 usuários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01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R$ 2.430,00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01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R$ 58.320,00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01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a 20 usuários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01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R$ 2.880,00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01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R$ 69.120,00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01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 a 25 usuários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01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R$ 3.330,00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01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R$ 79.920,00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01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a 30 usuários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01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R$ 3.780,00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01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R$ 90.720,00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709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R$ 1.980,00/mês para até 10 usuários</a:t>
            </a:r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com acréscimo de </a:t>
            </a:r>
            <a:pPr indent="0" marL="0">
              <a:buNone/>
            </a:pPr>
            <a:r>
              <a:rPr lang="en-US" sz="1250" b="1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R$ 450,00</a:t>
            </a:r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cada 5 usuários adicionais. O enquadramento muda apenas quando a faixa muda.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48640" y="534924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EAF0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55321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de equilíbrio: 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mensalidade equivale a 13 visitas ao ticket médio. Recuperar 13 cobranças por mês, de uma média de 57 que hoje saem sem cobrança, já paga a plataforma inteira.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Formas de pagamento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de 24 meses, base de até 10 usuários.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06040" cy="411480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78308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OPÇÃO A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05740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1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Mensal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606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R$ 1.980,00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0632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mês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5204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em 24 meses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376732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R$ 47.520,00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48920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desembolso inicial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Reajuste anual pelo IPCA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64992" y="1600200"/>
            <a:ext cx="2606040" cy="411480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66160" y="178308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OPÇÃO B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205740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1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Semestral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3566160" y="2606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R$ 11.286,00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30632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semestre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566160" y="35204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em 24 meses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3566160" y="376732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R$ 45.144,00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566160" y="4224528"/>
            <a:ext cx="2240280" cy="502920"/>
          </a:xfrm>
          <a:prstGeom prst="roundRect">
            <a:avLst>
              <a:gd name="adj" fmla="val 10909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66160" y="4224528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 de R$ 2.376,00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566160" y="48920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pagamentos antecipados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travado no semestre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181344" y="1600200"/>
            <a:ext cx="2606040" cy="411480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82512" y="178308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OPÇÃO C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382512" y="205740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1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Anual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6382512" y="2606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R$ 21.384,00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6382512" y="30632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ano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382512" y="35204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em 24 meses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382512" y="376732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R$ 42.768,00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382512" y="4224528"/>
            <a:ext cx="2240280" cy="502920"/>
          </a:xfrm>
          <a:prstGeom prst="roundRect">
            <a:avLst>
              <a:gd name="adj" fmla="val 10909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382512" y="4224528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 de R$ 4.752,00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382512" y="48920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pagamentos antecipados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travado no ano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997696" y="1600200"/>
            <a:ext cx="2606040" cy="4114800"/>
          </a:xfrm>
          <a:prstGeom prst="roundRect">
            <a:avLst>
              <a:gd name="adj" fmla="val 3158"/>
            </a:avLst>
          </a:prstGeom>
          <a:solidFill>
            <a:srgbClr val="EAF0FE"/>
          </a:solidFill>
          <a:ln w="25400">
            <a:solidFill>
              <a:srgbClr val="1D4ED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98864" y="178308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OPÇÃO D · RECOMENDADA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9198864" y="205740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1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vista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9198864" y="2606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R$ 40.392,00</a:t>
            </a:r>
            <a:endParaRPr lang="en-US" sz="2000" dirty="0"/>
          </a:p>
        </p:txBody>
      </p:sp>
      <p:sp>
        <p:nvSpPr>
          <p:cNvPr id="36" name="Text 34"/>
          <p:cNvSpPr txBox="1"/>
          <p:nvPr/>
        </p:nvSpPr>
        <p:spPr>
          <a:xfrm>
            <a:off x="9198864" y="30632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pagamento único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9198864" y="35204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em 24 meses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9198864" y="376732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R$ 40.392,00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9198864" y="4224528"/>
            <a:ext cx="2240280" cy="502920"/>
          </a:xfrm>
          <a:prstGeom prst="roundRect">
            <a:avLst>
              <a:gd name="adj" fmla="val 10909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198864" y="4224528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 de R$ 7.128,00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9198864" y="48920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reajuste nos 24 meses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 nas evoluções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Descontos de 5%, 10% e 15% para pagamento semestral, anual e à vista.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2: Aquisição definitiva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Licença perpétua, código-fonte entregue e autonomia total. Pagamento à vista ou em até 6 parcelas.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6675120" cy="4114800"/>
          </a:xfrm>
          <a:prstGeom prst="roundRect">
            <a:avLst>
              <a:gd name="adj" fmla="val 2000"/>
            </a:avLst>
          </a:prstGeom>
          <a:solidFill>
            <a:srgbClr val="EAF0FE"/>
          </a:solidFill>
          <a:ln w="25400">
            <a:solidFill>
              <a:srgbClr val="1D4ED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AQUISIÇÃO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48840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Licença perpétua + código-fonte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84378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da plataforma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114800" y="27889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01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R$ 150.000,00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62102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vista (10% de desconto)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114800" y="34747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R$ 135.000,00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421538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6 parcelas de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41605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01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R$ 25.000,00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49834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Código-fonte completo em repositório da GPSTec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Licença perpétua e irrevogável, sem limite de usuários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 e histórico completo da operação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 e transferência de conhecimento (16h)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452360" y="1691640"/>
            <a:ext cx="4160520" cy="4114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2668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OPCIONAL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1488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1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Manutenção e evolução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74320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R$ 22.500,00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32004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ano  ·  R$ 1.875,00/mês  ·  R$ 93,75 a hora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3703320"/>
            <a:ext cx="3611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horas por mês para melhorias e evoluções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Correções de segurança, sem consumir horas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técnico em horário comercial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Monitoramento e backup verificados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Contratação livre, dispensável a qualquer momento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Assinar ou adquirir?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pesa em cada caminho, considerando apenas o desembolso.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26080"/>
                <a:gridCol w="2926080"/>
                <a:gridCol w="283464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670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Horizonte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670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Assinatura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670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Aquisição à vista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670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Diferença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01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meses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01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R$ 47.520,00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01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R$ 135.000,00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assinatura custa menos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01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meses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01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R$ 71.280,00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01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R$ 135.000,00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assinatura custa menos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01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meses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01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R$ 118.800,00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01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R$ 135.000,00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assinatura custa menos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1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 meses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01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R$ 134.640,00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01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R$ 135.000,00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01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equilíbrio financeiro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E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114800"/>
            <a:ext cx="539496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4672" y="42976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assinatura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04672" y="466344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caminho mais econômico em qualquer horizonte até 68 meses, e a escolha natural para quem quer previsibilidade de caixa sem assumir infraestrutura, atualização e suporte.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217920" y="4114800"/>
            <a:ext cx="5394960" cy="1828800"/>
          </a:xfrm>
          <a:prstGeom prst="roundRect">
            <a:avLst>
              <a:gd name="adj" fmla="val 4500"/>
            </a:avLst>
          </a:prstGeom>
          <a:solidFill>
            <a:srgbClr val="EAF0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73952" y="42976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aquisição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6473952" y="466344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se justifica por economia, e sim por propriedade: código-fonte, base de dados e liberdade de operar sem depender de fornecedor. O valor deixa de ser despesa recorrente e passa a compor o patrimônio.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 do fornecimento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6675120" cy="4480560"/>
          </a:xfrm>
          <a:prstGeom prst="roundRect">
            <a:avLst>
              <a:gd name="adj" fmla="val 1837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737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INCLUÍDO NOS DOIS MODELOS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6035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esteiras completas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e relatórios por competência e por CR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Calendário de visitas e execuções por técnico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Usuários, perfis, permissões, técnicos e catálogo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de orçamentos e documentos em PDF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Atualização em tempo real entre os usuários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Domínio próprio operacaogpstecrs.com.br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revogável, senha forte e trilha de auditoria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452360" y="1508760"/>
            <a:ext cx="4160520" cy="448056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26680" y="1737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CONTRATADO À PARTE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7726680" y="2103120"/>
            <a:ext cx="3611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de IA: leitura automática de orçamentos e Assistente, cobrado por uso mediante aprovação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Integrações com ERP, Sigma e WhatsApp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Aplicativo móvel nativo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Novos módulos e esteiras fora do escopo atual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525780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plataforma já está preparada para religar o módulo de IA. Basta a autorização comercial.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03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Operação GpsTecRS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9718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operação inteira em um só lugar, do orçamento à medição faturada.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480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ARV </a:t>
            </a:r>
            <a:pPr indent="0" marL="0">
              <a:buNone/>
            </a:pPr>
            <a:r>
              <a:rPr lang="en-US" sz="20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LTDA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8463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 e Sistemas Operacionais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Porto Alegre · RS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0" y="484632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destinada a</a:t>
            </a:r>
            <a:endParaRPr lang="en-US" sz="1200" dirty="0"/>
          </a:p>
          <a:p>
            <a:pPr algn="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GPSTec · Segurança Eletrônica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Segurança da informação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 completa em agosto de 2026, com todas as correções já aplicadas em produção.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391760" cy="175564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810512"/>
            <a:ext cx="310896" cy="310896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81051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07008" y="1792224"/>
            <a:ext cx="44956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protegido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194560"/>
            <a:ext cx="4843120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revogável na hora: desativou o usuário, o acesso cai no mesmo instante</a:t>
            </a:r>
            <a:endParaRPr lang="en-US" sz="11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Senha de 8+ caracteres, troca obrigatória no 1º acesso, guardada em hash bcrypt</a:t>
            </a:r>
            <a:endParaRPr lang="en-US" sz="11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Máximo de 8 tentativas de login a cada 10 minutos por origem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51296" y="1572768"/>
            <a:ext cx="5391760" cy="175564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89040" y="1810512"/>
            <a:ext cx="310896" cy="310896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6489040" y="181051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909664" y="1792224"/>
            <a:ext cx="44956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Permissão por perfil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5616" y="2194560"/>
            <a:ext cx="4843120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usuário executa apenas as etapas do próprio perfil</a:t>
            </a:r>
            <a:endParaRPr lang="en-US" sz="11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altera o próprio perfil nem se concede permissão que não tem</a:t>
            </a:r>
            <a:endParaRPr lang="en-US" sz="11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regras são configuráveis pela coordenação, sem mexer em código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584448"/>
            <a:ext cx="5391760" cy="175564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3822192"/>
            <a:ext cx="310896" cy="310896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382219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07008" y="3803904"/>
            <a:ext cx="44956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protegidos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4206240"/>
            <a:ext cx="4843120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obrigatório em todo o tráfego, com HSTS de 2 anos</a:t>
            </a:r>
            <a:endParaRPr lang="en-US" sz="11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criptografado, com backup e restauração a ponto no tempo</a:t>
            </a:r>
            <a:endParaRPr lang="en-US" sz="11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Anexos: só PDF, validado por assinatura do arquivo e servido isolado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51296" y="3584448"/>
            <a:ext cx="5391760" cy="175564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89040" y="3822192"/>
            <a:ext cx="310896" cy="310896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21" name="Text 19"/>
          <p:cNvSpPr/>
          <p:nvPr/>
        </p:nvSpPr>
        <p:spPr>
          <a:xfrm>
            <a:off x="6489040" y="382219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909664" y="3803904"/>
            <a:ext cx="44956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rastreável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25616" y="4206240"/>
            <a:ext cx="4843120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movimentação grava autor, data, setor e ação no histórico</a:t>
            </a:r>
            <a:endParaRPr lang="en-US" sz="11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avança na esteira sem registro de quem fez</a:t>
            </a:r>
            <a:endParaRPr lang="en-US" sz="11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Dependências monitoradas: nenhuma vulnerabilidade conhecida em produção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9677"/>
            </a:avLst>
          </a:prstGeom>
          <a:solidFill>
            <a:srgbClr val="ECFDF3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4672" y="5596128"/>
            <a:ext cx="1058235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plataforma não recebe imagem, vídeo ou gravação das centrais de monitoramento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nem dado pessoal sensível, nem dado de consumidor final dos clientes da GPSTec.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LGPD: quem responde pelo quê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responsabilidade legal muda conforme a GPSTec assine ou adquira a plataforma. A divisão vai no contrato.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17904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986784"/>
                <a:gridCol w="3995928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 1 · ASSINATURA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 2 · AQUISIÇÃO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01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na LGPD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GPSTec é controladora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ARV LABS é operadora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GPSTec é controladora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operadora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01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Hospedagem e backup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Mantidos pela ARV LABS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Responsabilidade da GPSTec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01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Atualizações de segurança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Inclusas na mensalidade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Somente com a manutenção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 contratada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01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Incidente de segurança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ARV LABS comunica em até 24h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apoia a notificação à ANPD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GPSTec conduz, com apoio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houver manutenção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01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Atendimento a titular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GPSTec responde, ARV LABS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fornece exportação e exclusão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GPSTec responde, com 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ferramentas já embutidas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01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Fim da relação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Exportação integral e eliminação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 cópias em até 30 dias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se aplica: base e código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já pertencem à GPSTec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705856"/>
            <a:ext cx="11094415" cy="54864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04672" y="5705856"/>
            <a:ext cx="1058235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dois modelos, os dados da operação são de propriedade exclusiva da GPSTec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podem ser exportados a qualquer momento, em formato aberto, sem custo e sem carência.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Horas de evolução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Melhorias e evoluções consomem horas de desenvolvimento. A GPSTec escolhe entre o pacote fechado e a contratação por demanda.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17904"/>
          <a:ext cx="11094415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2377440"/>
                <a:gridCol w="21031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 DE CONTRATAÇÃO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 EFETIVA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QUANDO COMPENSA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01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Pacote mensal
</a:t>
                      </a:r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horas inclusas por mês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01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R$ 1.875,00/mês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R$ 93,75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partir de 13 horas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uso no mês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01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 avulsa, por demanda
</a:t>
                      </a:r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pacote e sem mensalidade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01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R$ 150,00/hora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R$ 150,00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Uso eventual, abaixo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12 horas no mês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438144"/>
            <a:ext cx="11094415" cy="512064"/>
          </a:xfrm>
          <a:prstGeom prst="roundRect">
            <a:avLst>
              <a:gd name="adj" fmla="val 10714"/>
            </a:avLst>
          </a:prstGeom>
          <a:solidFill>
            <a:srgbClr val="ECFDF3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86384" y="3438144"/>
            <a:ext cx="10618927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pacote sai 37,5% mais barato por hora</a:t>
            </a:r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as mesmas 20 horas avulsas custariam R$ 3.000,00. O ponto de equilíbrio fica em 12,5 horas por mês.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4133088"/>
            <a:ext cx="5410048" cy="2029968"/>
          </a:xfrm>
          <a:prstGeom prst="roundRect">
            <a:avLst>
              <a:gd name="adj" fmla="val 31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4315968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AS HORAS FUNCIONAM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22960" y="4626864"/>
            <a:ext cx="486140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Correção de defeito não consome hora: é obrigação da ARV LABS</a:t>
            </a:r>
            <a:endParaRPr lang="en-US" sz="11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Atualização de segurança também não consome hora</a:t>
            </a:r>
            <a:endParaRPr lang="en-US" sz="11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horas valem para melhorias: campos, relatórios, regras e telas</a:t>
            </a:r>
            <a:endParaRPr lang="en-US" sz="11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demanda é estimada e aprovada antes de começar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33008" y="4133088"/>
            <a:ext cx="5410048" cy="2029968"/>
          </a:xfrm>
          <a:prstGeom prst="roundRect">
            <a:avLst>
              <a:gd name="adj" fmla="val 3153"/>
            </a:avLst>
          </a:prstGeom>
          <a:solidFill>
            <a:srgbClr val="FFFFFF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07328" y="4315968"/>
            <a:ext cx="486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 PARA OS DOIS MODELOS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507328" y="4626864"/>
            <a:ext cx="486140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assinatura, as 20 horas já estão inclusas nos R$ 1.980,00</a:t>
            </a:r>
            <a:endParaRPr lang="en-US" sz="11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aquisição, vêm no pacote de manutenção de R$ 1.875,00</a:t>
            </a:r>
            <a:endParaRPr lang="en-US" sz="11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ambos, a hora além do pacote é cobrada a R$ 150,00</a:t>
            </a:r>
            <a:endParaRPr lang="en-US" sz="11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não utilizadas não acumulam para o mês seguinte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ARV LABS LTDA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Comercial - Operação GpsTecRS</dc:title>
  <dc:subject>PptxGenJS Presentation</dc:subject>
  <dc:creator>ARV LABS LTDA</dc:creator>
  <cp:lastModifiedBy>ARV LABS LTDA</cp:lastModifiedBy>
  <cp:revision>1</cp:revision>
  <dcterms:created xsi:type="dcterms:W3CDTF">2026-08-26T15:20:55Z</dcterms:created>
  <dcterms:modified xsi:type="dcterms:W3CDTF">2026-08-26T15:20:55Z</dcterms:modified>
</cp:coreProperties>
</file>