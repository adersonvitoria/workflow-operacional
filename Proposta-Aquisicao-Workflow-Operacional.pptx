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383280"/>
            <a:ext cx="6858000" cy="6858000"/>
          </a:xfrm>
          <a:prstGeom prst="ellipse">
            <a:avLst/>
          </a:prstGeom>
          <a:solidFill>
            <a:srgbClr val="1633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5120640"/>
            <a:ext cx="3657600" cy="3657600"/>
          </a:xfrm>
          <a:prstGeom prst="ellipse">
            <a:avLst/>
          </a:prstGeom>
          <a:solidFill>
            <a:srgbClr val="0E7C7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13232" cy="713232"/>
          </a:xfrm>
          <a:prstGeom prst="ellipse">
            <a:avLst/>
          </a:prstGeom>
          <a:solidFill>
            <a:srgbClr val="18A99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36" y="948416"/>
            <a:ext cx="370881" cy="3708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868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AQUISIÇÃO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Operacional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841248" y="342900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Esteira única de produção para Segurança Eletrônica &amp; Monitoramento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41248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 ·  Compras  ·  Almoxarifado  ·  Monitoramento  ·  Técnica  ·  Faturamento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" y="5623560"/>
            <a:ext cx="3840480" cy="0"/>
          </a:xfrm>
          <a:prstGeom prst="line">
            <a:avLst/>
          </a:prstGeom>
          <a:noFill/>
          <a:ln w="25400">
            <a:solidFill>
              <a:srgbClr val="E8B2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GPS · GPSTec-POA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1248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de 2026  ·  Documento confidencial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ATUAL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Dezenas de planilhas que não conversam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691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roda em arquivos soltos por setor. O resultado é retrabalho, erro e zero visibilidade de ponta a ponta.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697480"/>
            <a:ext cx="566928" cy="566928"/>
          </a:xfrm>
          <a:prstGeom prst="ellipse">
            <a:avLst/>
          </a:prstGeom>
          <a:solidFill>
            <a:srgbClr val="E05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439" y="285055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6791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isolados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371600" y="29992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Comercial, Compras, Técnica e Faturamento em planilhas separadas.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8368" y="3593592"/>
            <a:ext cx="566928" cy="566928"/>
          </a:xfrm>
          <a:prstGeom prst="ellipse">
            <a:avLst/>
          </a:prstGeom>
          <a:solidFill>
            <a:srgbClr val="E053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39" y="3746663"/>
            <a:ext cx="260787" cy="2607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57530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integração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371600" y="38953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duplicados, recopiados à mão entre arquivos.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58368" y="4489704"/>
            <a:ext cx="566928" cy="566928"/>
          </a:xfrm>
          <a:prstGeom prst="ellipse">
            <a:avLst/>
          </a:prstGeom>
          <a:solidFill>
            <a:srgbClr val="E053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39" y="4642775"/>
            <a:ext cx="260787" cy="26078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47141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SLA / sem prazo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371600" y="479145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sabe o que está travado nem há quanto tempo.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58368" y="5385816"/>
            <a:ext cx="566928" cy="566928"/>
          </a:xfrm>
          <a:prstGeom prst="ellipse">
            <a:avLst/>
          </a:prstGeom>
          <a:solidFill>
            <a:srgbClr val="E0533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39" y="5538887"/>
            <a:ext cx="260787" cy="26078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53675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e retrabalho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371600" y="56875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divergentes e informação perdida no caminho.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7772400" y="1737360"/>
            <a:ext cx="3776472" cy="4206240"/>
          </a:xfrm>
          <a:prstGeom prst="roundRect">
            <a:avLst>
              <a:gd name="adj" fmla="val 2906"/>
            </a:avLst>
          </a:prstGeom>
          <a:solidFill>
            <a:srgbClr val="0E1E33"/>
          </a:solidFill>
          <a:ln/>
          <a:effectLst>
            <a:outerShdw sx="100000" sy="100000" kx="0" ky="0" algn="bl" rotWithShape="0" blurRad="88900" dist="38100" dir="5400000">
              <a:srgbClr val="0E1E33">
                <a:alpha val="16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7772400" y="205740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9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772400" y="2331720"/>
            <a:ext cx="3776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0" dirty="0"/>
          </a:p>
        </p:txBody>
      </p:sp>
      <p:sp>
        <p:nvSpPr>
          <p:cNvPr id="24" name="Text 18"/>
          <p:cNvSpPr/>
          <p:nvPr/>
        </p:nvSpPr>
        <p:spPr>
          <a:xfrm>
            <a:off x="7772400" y="3794760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operando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8686800" y="4343400"/>
            <a:ext cx="1947672" cy="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772400" y="4572000"/>
            <a:ext cx="3776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integrações entre eles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8A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fluxo único, do orçamento ao faturamento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645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6 setores trabalham no mesmo sistema, em sequência, sem recopiar dados.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834640"/>
            <a:ext cx="1078992" cy="1078992"/>
          </a:xfrm>
          <a:prstGeom prst="ellipse">
            <a:avLst/>
          </a:prstGeom>
          <a:solidFill>
            <a:srgbClr val="18A99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486" y="3136758"/>
            <a:ext cx="474756" cy="474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" y="40233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952" y="3227832"/>
            <a:ext cx="292608" cy="2926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551176" y="2834640"/>
            <a:ext cx="1078992" cy="1078992"/>
          </a:xfrm>
          <a:prstGeom prst="ellipse">
            <a:avLst/>
          </a:prstGeom>
          <a:solidFill>
            <a:srgbClr val="0E7C7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294" y="3136758"/>
            <a:ext cx="474756" cy="4747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139696" y="40233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3227832"/>
            <a:ext cx="292608" cy="29260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443984" y="2834640"/>
            <a:ext cx="1078992" cy="1078992"/>
          </a:xfrm>
          <a:prstGeom prst="ellipse">
            <a:avLst/>
          </a:prstGeom>
          <a:solidFill>
            <a:srgbClr val="18A999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6102" y="3136758"/>
            <a:ext cx="474756" cy="4747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032504" y="40233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Almoxarifado</a:t>
            </a:r>
            <a:endParaRPr lang="en-US" sz="13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3227832"/>
            <a:ext cx="292608" cy="292608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6336792" y="2834640"/>
            <a:ext cx="1078992" cy="1078992"/>
          </a:xfrm>
          <a:prstGeom prst="ellipse">
            <a:avLst/>
          </a:prstGeom>
          <a:solidFill>
            <a:srgbClr val="0E7C72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910" y="3136758"/>
            <a:ext cx="474756" cy="47475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925312" y="40233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3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0376" y="3227832"/>
            <a:ext cx="292608" cy="292608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8229600" y="2834640"/>
            <a:ext cx="1078992" cy="1078992"/>
          </a:xfrm>
          <a:prstGeom prst="ellipse">
            <a:avLst/>
          </a:prstGeom>
          <a:solidFill>
            <a:srgbClr val="18A999"/>
          </a:solidFill>
          <a:ln/>
        </p:spPr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1718" y="3136758"/>
            <a:ext cx="474756" cy="474756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7818120" y="40233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3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73184" y="3227832"/>
            <a:ext cx="292608" cy="292608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10122408" y="2834640"/>
            <a:ext cx="1078992" cy="1078992"/>
          </a:xfrm>
          <a:prstGeom prst="ellipse">
            <a:avLst/>
          </a:prstGeom>
          <a:solidFill>
            <a:srgbClr val="0E7C72"/>
          </a:solidFill>
          <a:ln/>
        </p:spPr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4526" y="3136758"/>
            <a:ext cx="474756" cy="474756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9710928" y="40233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</a:t>
            </a:r>
            <a:endParaRPr lang="en-US" sz="1350" dirty="0"/>
          </a:p>
        </p:txBody>
      </p:sp>
      <p:sp>
        <p:nvSpPr>
          <p:cNvPr id="28" name="Shape 15"/>
          <p:cNvSpPr/>
          <p:nvPr/>
        </p:nvSpPr>
        <p:spPr>
          <a:xfrm>
            <a:off x="658368" y="507492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sp>
        <p:nvSpPr>
          <p:cNvPr id="29" name="Shape 16"/>
          <p:cNvSpPr/>
          <p:nvPr/>
        </p:nvSpPr>
        <p:spPr>
          <a:xfrm>
            <a:off x="960120" y="5349240"/>
            <a:ext cx="603504" cy="603504"/>
          </a:xfrm>
          <a:prstGeom prst="ellipse">
            <a:avLst/>
          </a:prstGeom>
          <a:solidFill>
            <a:srgbClr val="0E1E33"/>
          </a:solidFill>
          <a:ln/>
        </p:spPr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3066" y="5512186"/>
            <a:ext cx="277612" cy="277612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1783080" y="521208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modelo de Card atende Implantação e Manutenção. </a:t>
            </a:r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dos campos são comuns; muda só a sequência de etapas — adicionar etapa é editar um array, a interface não muda.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8A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ENTREGUE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 funcional, não protótipo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35295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E1E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75688"/>
            <a:ext cx="640080" cy="640080"/>
          </a:xfrm>
          <a:prstGeom prst="ellipse">
            <a:avLst/>
          </a:prstGeom>
          <a:solidFill>
            <a:srgbClr val="0E1E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10" y="2248510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2807208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3118104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React + TypeScript, Prisma + PostgreSQL (Neon).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4553712" y="1783080"/>
            <a:ext cx="35295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E1E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28032" y="2075688"/>
            <a:ext cx="640080" cy="640080"/>
          </a:xfrm>
          <a:prstGeom prst="ellipse">
            <a:avLst/>
          </a:prstGeom>
          <a:solidFill>
            <a:srgbClr val="18A99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854" y="2248510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28032" y="2807208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dois fluxos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28032" y="3118104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e Manutenção no mesmo board, drag-and-drop.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8449056" y="1783080"/>
            <a:ext cx="35295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E1E33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23376" y="2075688"/>
            <a:ext cx="640080" cy="640080"/>
          </a:xfrm>
          <a:prstGeom prst="ellipse">
            <a:avLst/>
          </a:prstGeom>
          <a:solidFill>
            <a:srgbClr val="0E1E3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6198" y="2248510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23376" y="2807208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723376" y="3118104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com 8 perfis: Coordenador, Comercial, Almoxarifado e mais.</a:t>
            </a:r>
            <a:endParaRPr lang="en-US" sz="1180" dirty="0"/>
          </a:p>
        </p:txBody>
      </p:sp>
      <p:sp>
        <p:nvSpPr>
          <p:cNvPr id="19" name="Shape 14"/>
          <p:cNvSpPr/>
          <p:nvPr/>
        </p:nvSpPr>
        <p:spPr>
          <a:xfrm>
            <a:off x="658368" y="3886200"/>
            <a:ext cx="35295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E1E33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2688" y="4178808"/>
            <a:ext cx="640080" cy="640080"/>
          </a:xfrm>
          <a:prstGeom prst="ellipse">
            <a:avLst/>
          </a:prstGeom>
          <a:solidFill>
            <a:srgbClr val="18A99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510" y="4351630"/>
            <a:ext cx="294437" cy="29443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" y="4910328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em 4 níveis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32688" y="5221224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por etapa, sinalização de atraso e priorização.</a:t>
            </a:r>
            <a:endParaRPr lang="en-US" sz="1180" dirty="0"/>
          </a:p>
        </p:txBody>
      </p:sp>
      <p:sp>
        <p:nvSpPr>
          <p:cNvPr id="24" name="Shape 18"/>
          <p:cNvSpPr/>
          <p:nvPr/>
        </p:nvSpPr>
        <p:spPr>
          <a:xfrm>
            <a:off x="4553712" y="3886200"/>
            <a:ext cx="35295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E1E33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28032" y="4178808"/>
            <a:ext cx="640080" cy="640080"/>
          </a:xfrm>
          <a:prstGeom prst="ellipse">
            <a:avLst/>
          </a:prstGeom>
          <a:solidFill>
            <a:srgbClr val="0E1E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854" y="4351630"/>
            <a:ext cx="294437" cy="29443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28032" y="4910328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 IA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828032" y="5221224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automático do board com Claude no dashboard.</a:t>
            </a:r>
            <a:endParaRPr lang="en-US" sz="1180" dirty="0"/>
          </a:p>
        </p:txBody>
      </p:sp>
      <p:sp>
        <p:nvSpPr>
          <p:cNvPr id="29" name="Shape 22"/>
          <p:cNvSpPr/>
          <p:nvPr/>
        </p:nvSpPr>
        <p:spPr>
          <a:xfrm>
            <a:off x="8449056" y="3886200"/>
            <a:ext cx="35295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E1E33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723376" y="4178808"/>
            <a:ext cx="640080" cy="640080"/>
          </a:xfrm>
          <a:prstGeom prst="ellipse">
            <a:avLst/>
          </a:prstGeom>
          <a:solidFill>
            <a:srgbClr val="18A99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6198" y="4351630"/>
            <a:ext cx="294437" cy="29443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23376" y="4910328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&amp; relatórios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723376" y="5221224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Itens, estoque, alocação por CR e relatórios gerenciais.</a:t>
            </a:r>
            <a:endParaRPr lang="en-US" sz="1180" dirty="0"/>
          </a:p>
        </p:txBody>
      </p:sp>
      <p:sp>
        <p:nvSpPr>
          <p:cNvPr id="34" name="Text 26"/>
          <p:cNvSpPr/>
          <p:nvPr/>
        </p:nvSpPr>
        <p:spPr>
          <a:xfrm>
            <a:off x="658368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4.300 linhas de código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já modela o processo real de uma empresa de segurança eletrônica — o que nenhuma ferramenta de prateleira entrega.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8A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custam as ferramentas equivalentes — 50 usuários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270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286000"/>
                <a:gridCol w="1874520"/>
                <a:gridCol w="1508760"/>
                <a:gridCol w="15087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R$/mês (50)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R$/ano (50)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/ Kanban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/ Kanban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Pipefy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/ Kanban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77.760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B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Service (BR)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B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Service (BR)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+ 50 téc.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55.428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Produttivo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Service (BR)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B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Segware SIGMA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B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08076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Câmbio US$1 = R$5,40 (jun/2026), cobrança anual.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*SIGMA cobra por central/contas monitoradas (não por usuário) — valor flat estimado, não multiplicado por 50.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VS BUY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reproduzir seu sistema, o GPS montaria um stack fragmentado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16335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67128"/>
            <a:ext cx="512064" cy="512064"/>
          </a:xfrm>
          <a:prstGeom prst="ellipse">
            <a:avLst/>
          </a:prstGeom>
          <a:solidFill>
            <a:srgbClr val="18A99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937" y="2305385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monday.com (Standard)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Esteira / workflow + automações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0" y="22219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R$ 39.600/ano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2990088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16335B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3191256"/>
            <a:ext cx="512064" cy="512064"/>
          </a:xfrm>
          <a:prstGeom prst="ellipse">
            <a:avLst/>
          </a:prstGeom>
          <a:solidFill>
            <a:srgbClr val="18A99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37" y="3329513"/>
            <a:ext cx="235549" cy="2355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1272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Control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554480" y="34472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e manutenção em campo (50)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0" y="3246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R$ 55.428/ano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0080" y="4014216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16335B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4215384"/>
            <a:ext cx="512064" cy="512064"/>
          </a:xfrm>
          <a:prstGeom prst="ellipse">
            <a:avLst/>
          </a:prstGeom>
          <a:solidFill>
            <a:srgbClr val="18A99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" y="4353641"/>
            <a:ext cx="235549" cy="2355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1513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Segware SIGMA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554480" y="44714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alarmes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72000" y="42702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R$ 48.000/ano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85800" y="5120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Setup / integração 1ª vez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R$ 30.900</a:t>
            </a:r>
            <a:pPr indent="0" marL="0">
              <a:buNone/>
            </a:pPr>
            <a:r>
              <a:rPr lang="en-US" sz="1200" i="1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 mesmo assim, sem integração real entre os três)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040880" y="1965960"/>
            <a:ext cx="4526280" cy="4069080"/>
          </a:xfrm>
          <a:prstGeom prst="roundRect">
            <a:avLst>
              <a:gd name="adj" fmla="val 2697"/>
            </a:avLst>
          </a:prstGeom>
          <a:solidFill>
            <a:srgbClr val="0E7C72"/>
          </a:solidFill>
          <a:ln/>
          <a:effectLst>
            <a:outerShdw sx="100000" sy="100000" kx="0" ky="0" algn="bl" rotWithShape="0" blurRad="88900" dist="38100" dir="5400000">
              <a:srgbClr val="0E1E33">
                <a:alpha val="16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7040880" y="22860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PARA O COMPRADOR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040880" y="26517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R$ 11,9 mil</a:t>
            </a:r>
            <a:endParaRPr lang="en-US" sz="5000" dirty="0"/>
          </a:p>
        </p:txBody>
      </p:sp>
      <p:sp>
        <p:nvSpPr>
          <p:cNvPr id="26" name="Text 21"/>
          <p:cNvSpPr/>
          <p:nvPr/>
        </p:nvSpPr>
        <p:spPr>
          <a:xfrm>
            <a:off x="7040880" y="345643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mês, recorrente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8229600" y="3977640"/>
            <a:ext cx="2148840" cy="0"/>
          </a:xfrm>
          <a:prstGeom prst="line">
            <a:avLst/>
          </a:prstGeom>
          <a:noFill/>
          <a:ln w="12700">
            <a:solidFill>
              <a:srgbClr val="5FC9B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040880" y="41605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R$ 143 mil</a:t>
            </a:r>
            <a:pPr algn="ctr" indent="0" marL="0">
              <a:buNone/>
            </a:pPr>
            <a:r>
              <a:rPr lang="en-US" sz="1400" dirty="0">
                <a:solidFill>
                  <a:srgbClr val="E6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/ano recorrente</a:t>
            </a:r>
            <a:endParaRPr lang="en-US" sz="2600" dirty="0"/>
          </a:p>
        </p:txBody>
      </p:sp>
      <p:sp>
        <p:nvSpPr>
          <p:cNvPr id="29" name="Text 24"/>
          <p:cNvSpPr/>
          <p:nvPr/>
        </p:nvSpPr>
        <p:spPr>
          <a:xfrm>
            <a:off x="7040880" y="48920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R$ 174 mil</a:t>
            </a:r>
            <a:pPr algn="ctr" indent="0" marL="0">
              <a:buNone/>
            </a:pPr>
            <a:r>
              <a:rPr lang="en-US" sz="1400" dirty="0">
                <a:solidFill>
                  <a:srgbClr val="E6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1º ano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8A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VENDER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modelos de negócio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3529584" cy="4160520"/>
          </a:xfrm>
          <a:prstGeom prst="roundRect">
            <a:avLst>
              <a:gd name="adj" fmla="val 2591"/>
            </a:avLst>
          </a:prstGeom>
          <a:solidFill>
            <a:srgbClr val="0E1E33"/>
          </a:solidFill>
          <a:ln w="12700">
            <a:solidFill>
              <a:srgbClr val="0E1E33"/>
            </a:solidFill>
            <a:prstDash val="solid"/>
          </a:ln>
          <a:effectLst>
            <a:outerShdw sx="100000" sy="100000" kx="0" ky="0" algn="bl" rotWithShape="0" blurRad="88900" dist="38100" dir="5400000">
              <a:srgbClr val="0E1E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96312" y="2084832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E8B23A"/>
          </a:solidFill>
          <a:ln/>
        </p:spPr>
      </p:sp>
      <p:sp>
        <p:nvSpPr>
          <p:cNvPr id="6" name="Text 4"/>
          <p:cNvSpPr/>
          <p:nvPr/>
        </p:nvSpPr>
        <p:spPr>
          <a:xfrm>
            <a:off x="2496312" y="20848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50976" y="2148840"/>
            <a:ext cx="658368" cy="658368"/>
          </a:xfrm>
          <a:prstGeom prst="ellipse">
            <a:avLst/>
          </a:prstGeom>
          <a:solidFill>
            <a:srgbClr val="0E1E3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735" y="2326599"/>
            <a:ext cx="302849" cy="3028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0976" y="29260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+ Manutenção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50976" y="352044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R$ 60–90 mil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950976" y="404164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 ·  + R$ 4–8 mil/mês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50976" y="4498848"/>
            <a:ext cx="2944368" cy="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0976" y="4645152"/>
            <a:ext cx="2980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mantém a propriedade do código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 de manutenção/evolução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risco × retorno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53712" y="1828800"/>
            <a:ext cx="3529584" cy="416052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E1E33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2148840"/>
            <a:ext cx="658368" cy="658368"/>
          </a:xfrm>
          <a:prstGeom prst="ellipse">
            <a:avLst/>
          </a:prstGeom>
          <a:solidFill>
            <a:srgbClr val="0E7C7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079" y="2326599"/>
            <a:ext cx="302849" cy="30284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46320" y="29260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(SaaS)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846320" y="352044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R$ 4–6 mil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4846320" y="404164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  ·  menos da metade do stack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846320" y="4498848"/>
            <a:ext cx="294436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46320" y="4645152"/>
            <a:ext cx="2980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valor no longo prazo (LTV)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continua dono do ativo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dos R$ 11,9 mil/mês do stack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449056" y="1828800"/>
            <a:ext cx="3529584" cy="416052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E1E33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741664" y="2148840"/>
            <a:ext cx="658368" cy="658368"/>
          </a:xfrm>
          <a:prstGeom prst="ellipse">
            <a:avLst/>
          </a:prstGeom>
          <a:solidFill>
            <a:srgbClr val="E0533D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9423" y="2326599"/>
            <a:ext cx="302849" cy="30284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741664" y="29260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total do IP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8741664" y="352044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R$ 250–360 mil</a:t>
            </a:r>
            <a:endParaRPr lang="en-US" sz="2800" dirty="0"/>
          </a:p>
        </p:txBody>
      </p:sp>
      <p:sp>
        <p:nvSpPr>
          <p:cNvPr id="27" name="Text 22"/>
          <p:cNvSpPr/>
          <p:nvPr/>
        </p:nvSpPr>
        <p:spPr>
          <a:xfrm>
            <a:off x="8741664" y="404164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vista  ·  1,75–2,5× custo anual evitado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741664" y="4498848"/>
            <a:ext cx="294436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741664" y="4645152"/>
            <a:ext cx="2980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Eles viram donos de tudo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sai do jogo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com cheque alto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venda o código cru por valor baixo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16335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12848"/>
            <a:ext cx="640080" cy="640080"/>
          </a:xfrm>
          <a:prstGeom prst="ellipse">
            <a:avLst/>
          </a:prstGeom>
          <a:solidFill>
            <a:srgbClr val="18A99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37926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40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recorrência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63347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+ manutenção  ou  Assinatura. Você mantém o ativo e gera receita previsível.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16335B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212848"/>
            <a:ext cx="640080" cy="640080"/>
          </a:xfrm>
          <a:prstGeom prst="ellipse">
            <a:avLst/>
          </a:prstGeom>
          <a:solidFill>
            <a:srgbClr val="E8B2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237926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240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for venda total do IP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269480" y="263347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Ancore em </a:t>
            </a:r>
            <a:pPr indent="0" marL="0">
              <a:buNone/>
            </a:pPr>
            <a:r>
              <a:rPr lang="en-US" sz="13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R$ 250–360 mil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1,75 a 2,5× o custo de mercado que o GPS evita por ano.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10927080" cy="2057400"/>
          </a:xfrm>
          <a:prstGeom prst="roundRect">
            <a:avLst>
              <a:gd name="adj" fmla="val 5333"/>
            </a:avLst>
          </a:prstGeom>
          <a:solidFill>
            <a:srgbClr val="0E7C72"/>
          </a:solidFill>
          <a:ln/>
          <a:effectLst>
            <a:outerShdw sx="100000" sy="100000" kx="0" ky="0" algn="bl" rotWithShape="0" blurRad="88900" dist="38100" dir="5400000">
              <a:srgbClr val="0E1E33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1005840" y="4370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âncora da negociação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05840" y="47548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escopo em ferramentas avulsas custa </a:t>
            </a:r>
            <a:pPr indent="0" marL="0">
              <a:buNone/>
            </a:pPr>
            <a:r>
              <a:rPr lang="en-US" sz="22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R$ 143 mil/ano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fica fragmentado.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1005840" y="54406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sistema entrega tudo unificado, já no processo do GPS, por menos. Esse delta é o seu poder de preço.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8A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CONTRATÁVEL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 — faturados à parte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6642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preço base cobre o que já existe. A evolução para os fluxos Comercial e Manutenção é escopo adicional — não entre de graça.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" y="24231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807208"/>
            <a:ext cx="658368" cy="658368"/>
          </a:xfrm>
          <a:prstGeom prst="ellipse">
            <a:avLst/>
          </a:prstGeom>
          <a:solidFill>
            <a:srgbClr val="0E1E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447" y="2984967"/>
            <a:ext cx="302849" cy="3028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01368" y="26791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Comercial completo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01368" y="308152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Propostas, CRM de oportunidades e aprovação integrados à esteira.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27648" y="24231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/>
        </p:spPr>
      </p:sp>
      <p:sp>
        <p:nvSpPr>
          <p:cNvPr id="11" name="Shape 8"/>
          <p:cNvSpPr/>
          <p:nvPr/>
        </p:nvSpPr>
        <p:spPr>
          <a:xfrm>
            <a:off x="6601968" y="2807208"/>
            <a:ext cx="658368" cy="658368"/>
          </a:xfrm>
          <a:prstGeom prst="ellipse">
            <a:avLst/>
          </a:prstGeom>
          <a:solidFill>
            <a:srgbClr val="0E7C7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727" y="2984967"/>
            <a:ext cx="302849" cy="3028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70648" y="26791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Manutenção avançado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70648" y="308152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Contratos, recorrência de visitas e histórico técnico por cliente.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58368" y="41148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/>
        </p:spPr>
      </p:sp>
      <p:sp>
        <p:nvSpPr>
          <p:cNvPr id="16" name="Shape 12"/>
          <p:cNvSpPr/>
          <p:nvPr/>
        </p:nvSpPr>
        <p:spPr>
          <a:xfrm>
            <a:off x="932688" y="4498848"/>
            <a:ext cx="658368" cy="658368"/>
          </a:xfrm>
          <a:prstGeom prst="ellipse">
            <a:avLst/>
          </a:prstGeom>
          <a:solidFill>
            <a:srgbClr val="0E1E3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676607"/>
            <a:ext cx="302849" cy="30284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01368" y="43708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Sigma Cloud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01368" y="47731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conta, sync de status, CHIPs e CFTV automatizados.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27648" y="41148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/>
        </p:spPr>
      </p:sp>
      <p:sp>
        <p:nvSpPr>
          <p:cNvPr id="21" name="Shape 16"/>
          <p:cNvSpPr/>
          <p:nvPr/>
        </p:nvSpPr>
        <p:spPr>
          <a:xfrm>
            <a:off x="6601968" y="4498848"/>
            <a:ext cx="658368" cy="658368"/>
          </a:xfrm>
          <a:prstGeom prst="ellipse">
            <a:avLst/>
          </a:prstGeom>
          <a:solidFill>
            <a:srgbClr val="0E7C7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727" y="4676607"/>
            <a:ext cx="302849" cy="30284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70648" y="43708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indicadores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70648" y="47731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 produtividade, SLA e faturamento por CR.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58368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de preço:  </a:t>
            </a:r>
            <a:pPr indent="0" marL="0">
              <a:buNone/>
            </a:pPr>
            <a:r>
              <a:rPr lang="en-US" sz="125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R$ 60–90 mil + manutenção R$ 4–8 mil/mês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ou   Assinatura R$ 4–6 mil/mês   ·   Venda de IP R$ 250–360 mil.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de Aquisicao - Workflow Operacional</dc:title>
  <dc:subject>PptxGenJS Presentation</dc:subject>
  <dc:creator>Aderson Vitoria</dc:creator>
  <cp:lastModifiedBy>Aderson Vitoria</cp:lastModifiedBy>
  <cp:revision>1</cp:revision>
  <dcterms:created xsi:type="dcterms:W3CDTF">2026-06-23T00:32:03Z</dcterms:created>
  <dcterms:modified xsi:type="dcterms:W3CDTF">2026-06-23T00:32:03Z</dcterms:modified>
</cp:coreProperties>
</file>